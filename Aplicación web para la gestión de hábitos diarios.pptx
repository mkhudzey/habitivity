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6" r:id="rId3"/>
    <p:sldId id="273" r:id="rId4"/>
    <p:sldId id="293" r:id="rId5"/>
    <p:sldId id="286" r:id="rId6"/>
    <p:sldId id="298" r:id="rId7"/>
    <p:sldId id="300" r:id="rId8"/>
    <p:sldId id="301" r:id="rId9"/>
    <p:sldId id="302" r:id="rId10"/>
    <p:sldId id="304" r:id="rId11"/>
    <p:sldId id="305" r:id="rId12"/>
    <p:sldId id="306" r:id="rId13"/>
    <p:sldId id="307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D18964-3BB4-4D47-8767-CE438F1B9D44}" type="datetime1">
              <a:rPr lang="es-ES" smtClean="0"/>
              <a:t>29/09/2025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6C0203-D64A-4516-A5D4-F81B23892FEC}" type="datetime1">
              <a:rPr lang="es-ES" noProof="0" smtClean="0"/>
              <a:t>29/09/2025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2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6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0251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136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4105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19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851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49DD-C21E-9161-D91A-46FA76E5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32A7CB-8067-6AC2-9F12-4FDF464BC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0027BA-F962-7DE5-2E84-68BC5B2F6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B8FED4-5864-6A10-93DF-20866DE4B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0308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n>
                <a:noFill/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posición de imagen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imagen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5" name="Marcador de posición de imagen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6" name="Marcador de posición de imagen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8" name="Marcador de posición de imagen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texto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7" name="Marcador de posición de imagen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texto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8" name="Marcador de texto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9" name="Marcador de texto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0" name="Marcador de posición de imagen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posición de imagen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posición de imagen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imagen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4" name="Marcador de posición de imagen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5" name="Marcador de texto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9" name="Marcador de texto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0" name="Marcador de texto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1" name="Marcador de posición de imagen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3" name="Marcador de posición de imagen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7" name="Marcador de gráfico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9" name="Marcador de gráfico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0" name="Marcador de gráfico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F26B43"/>
          </p15:clr>
        </p15:guide>
        <p15:guide id="2" pos="234">
          <p15:clr>
            <a:srgbClr val="F26B43"/>
          </p15:clr>
        </p15:guide>
        <p15:guide id="3" orient="horz" pos="4133">
          <p15:clr>
            <a:srgbClr val="F26B43"/>
          </p15:clr>
        </p15:guide>
        <p15:guide id="4" pos="7491">
          <p15:clr>
            <a:srgbClr val="F26B43"/>
          </p15:clr>
        </p15:guide>
        <p15:guide id="5" orient="horz" pos="640">
          <p15:clr>
            <a:srgbClr val="F26B43"/>
          </p15:clr>
        </p15:guide>
        <p15:guide id="6" orient="horz" pos="777">
          <p15:clr>
            <a:srgbClr val="F26B43"/>
          </p15:clr>
        </p15:guide>
        <p15:guide id="7" orient="horz" pos="4020">
          <p15:clr>
            <a:srgbClr val="F26B43"/>
          </p15:clr>
        </p15:guide>
        <p15:guide id="8" orient="horz" pos="39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clavesliderazgoresponsable.blogspot.com/2020/04/como-evitar-distracciones-y-ser-fiele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://www.eoi.es/blogs/alfredo-fernandez-lorenzo/2017/03/13/como-fijar-objetivos-personales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technofaq.org/posts/2016/01/top-trending-apps-of-2016-you-absolutely-must-have/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www.gaonwiki.com/w/Habitic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abarada.tistory.com/246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Relationship Id="rId6" Type="http://schemas.openxmlformats.org/officeDocument/2006/relationships/hyperlink" Target="https://ugeek.github.io/blog/post/2020-06-07-instalar-node-js-12-version-estable.html" TargetMode="External"/><Relationship Id="rId5" Type="http://schemas.openxmlformats.org/officeDocument/2006/relationships/image" Target="../media/image10.png"/><Relationship Id="rId10" Type="http://schemas.openxmlformats.org/officeDocument/2006/relationships/hyperlink" Target="https://yanbin.blog/java-postgresql-unit-test/" TargetMode="External"/><Relationship Id="rId4" Type="http://schemas.openxmlformats.org/officeDocument/2006/relationships/hyperlink" Target="https://damiandeluca.com.ar/ventajas-de-elegir-angular" TargetMode="Externa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qsels.com/es/search?q=objetivos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ción de imagen 13">
            <a:extLst>
              <a:ext uri="{FF2B5EF4-FFF2-40B4-BE49-F238E27FC236}">
                <a16:creationId xmlns:a16="http://schemas.microsoft.com/office/drawing/2014/main" id="{1B64FF07-1874-A2DD-06DD-278F9748F5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7545" r="7545"/>
          <a:stretch/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7385" y="166688"/>
            <a:ext cx="4986338" cy="3262311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Aplicación web para la gestión de hábitos diarios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7385" y="3708401"/>
            <a:ext cx="4986338" cy="528320"/>
          </a:xfrm>
        </p:spPr>
        <p:txBody>
          <a:bodyPr rtlCol="0"/>
          <a:lstStyle/>
          <a:p>
            <a:pPr rtl="0"/>
            <a:r>
              <a:rPr lang="es-ES" dirty="0"/>
              <a:t>Mykhaylo </a:t>
            </a:r>
            <a:r>
              <a:rPr lang="es-ES" dirty="0" err="1"/>
              <a:t>Stanislay</a:t>
            </a:r>
            <a:r>
              <a:rPr lang="es-ES" dirty="0"/>
              <a:t> </a:t>
            </a:r>
            <a:r>
              <a:rPr lang="es-ES" dirty="0" err="1"/>
              <a:t>Kulys</a:t>
            </a:r>
            <a:r>
              <a:rPr lang="es-ES" dirty="0"/>
              <a:t> Khudzey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3B6DAD7-C8EE-3788-9900-0408153F6730}"/>
              </a:ext>
            </a:extLst>
          </p:cNvPr>
          <p:cNvSpPr txBox="1"/>
          <p:nvPr/>
        </p:nvSpPr>
        <p:spPr>
          <a:xfrm>
            <a:off x="7017385" y="4417983"/>
            <a:ext cx="482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Tutor: Borja </a:t>
            </a:r>
            <a:r>
              <a:rPr lang="es-ES" sz="2400" dirty="0" err="1">
                <a:solidFill>
                  <a:schemeClr val="bg1"/>
                </a:solidFill>
              </a:rPr>
              <a:t>Bodel</a:t>
            </a:r>
            <a:r>
              <a:rPr lang="es-ES" sz="2400" dirty="0">
                <a:solidFill>
                  <a:schemeClr val="bg1"/>
                </a:solidFill>
              </a:rPr>
              <a:t> Sánchez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C2E4C7-8530-2036-0B4C-8BF2DBBA8FE4}"/>
              </a:ext>
            </a:extLst>
          </p:cNvPr>
          <p:cNvSpPr txBox="1"/>
          <p:nvPr/>
        </p:nvSpPr>
        <p:spPr>
          <a:xfrm>
            <a:off x="10825163" y="5984240"/>
            <a:ext cx="1178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2025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47FDFEA-DAFA-BCD1-8EB6-E11E8680A9DF}"/>
              </a:ext>
            </a:extLst>
          </p:cNvPr>
          <p:cNvSpPr txBox="1"/>
          <p:nvPr/>
        </p:nvSpPr>
        <p:spPr>
          <a:xfrm>
            <a:off x="7076123" y="5738018"/>
            <a:ext cx="374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Universidad Politécnica de Madrid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8" y="271334"/>
            <a:ext cx="5272764" cy="1551573"/>
          </a:xfrm>
        </p:spPr>
        <p:txBody>
          <a:bodyPr rtlCol="0"/>
          <a:lstStyle/>
          <a:p>
            <a:pPr rtl="0"/>
            <a:r>
              <a:rPr lang="es-ES" sz="5400" dirty="0"/>
              <a:t>MOTIVACIÓN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ES" sz="2400" dirty="0">
                <a:solidFill>
                  <a:schemeClr val="tx2"/>
                </a:solidFill>
              </a:rPr>
              <a:t>Distracciones digitales y pérdida de productividad </a:t>
            </a:r>
          </a:p>
          <a:p>
            <a:pPr rtl="0"/>
            <a:r>
              <a:rPr lang="es-ES" sz="2400" dirty="0">
                <a:solidFill>
                  <a:schemeClr val="tx2"/>
                </a:solidFill>
              </a:rPr>
              <a:t>Difícil mantener hábitos constantes</a:t>
            </a:r>
          </a:p>
          <a:p>
            <a:pPr rtl="0"/>
            <a:r>
              <a:rPr lang="es-ES" sz="2400" dirty="0">
                <a:solidFill>
                  <a:schemeClr val="tx2"/>
                </a:solidFill>
              </a:rPr>
              <a:t>Necesidad de una herramienta sencilla y accesible</a:t>
            </a:r>
          </a:p>
          <a:p>
            <a:pPr rtl="0"/>
            <a:r>
              <a:rPr lang="es-ES" sz="2400" dirty="0">
                <a:solidFill>
                  <a:schemeClr val="tx2"/>
                </a:solidFill>
              </a:rPr>
              <a:t>Idea basada en mi experiencia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2</a:t>
            </a:fld>
            <a:endParaRPr lang="es-ES"/>
          </a:p>
        </p:txBody>
      </p:sp>
      <p:pic>
        <p:nvPicPr>
          <p:cNvPr id="8" name="Marcador de posición de imagen 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6B12869-C2EE-49ED-08AE-B70BAB49BE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486" r="164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s-ES" sz="4800" dirty="0"/>
              <a:t>OBJETIVOS 🎯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3058160"/>
            <a:ext cx="3143250" cy="2856864"/>
          </a:xfrm>
        </p:spPr>
        <p:txBody>
          <a:bodyPr rtlCol="0">
            <a:normAutofit/>
          </a:bodyPr>
          <a:lstStyle/>
          <a:p>
            <a:pPr rtl="0"/>
            <a:r>
              <a:rPr lang="es-ES" sz="2400" dirty="0"/>
              <a:t>Desarrollar una aplicación web intuitiva y accesible para gestionar hábitos diarios, semanales y mensuales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2682240"/>
            <a:ext cx="3142800" cy="3220878"/>
          </a:xfrm>
        </p:spPr>
        <p:txBody>
          <a:bodyPr rtlCol="0">
            <a:noAutofit/>
          </a:bodyPr>
          <a:lstStyle/>
          <a:p>
            <a:pPr rtl="0"/>
            <a:r>
              <a:rPr lang="es-ES" sz="2000" dirty="0"/>
              <a:t>Crear una interfaz sencilla y clara para el usuario</a:t>
            </a:r>
          </a:p>
          <a:p>
            <a:pPr rtl="0"/>
            <a:r>
              <a:rPr lang="es-ES" sz="2000" dirty="0"/>
              <a:t>Permitir registrar, editar, eliminar y completar hábitos</a:t>
            </a:r>
          </a:p>
          <a:p>
            <a:pPr rtl="0"/>
            <a:r>
              <a:rPr lang="es-ES" sz="2000" dirty="0"/>
              <a:t>Incluir autenticación segura con roles de usuario y administrador</a:t>
            </a:r>
          </a:p>
          <a:p>
            <a:pPr rtl="0"/>
            <a:r>
              <a:rPr lang="es-ES" sz="2000" dirty="0"/>
              <a:t>Mostrar progreso con gráficas interactivas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3</a:t>
            </a:fld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27E299E-76C7-6A6B-7884-9879F2C7D1AC}"/>
              </a:ext>
            </a:extLst>
          </p:cNvPr>
          <p:cNvSpPr txBox="1"/>
          <p:nvPr/>
        </p:nvSpPr>
        <p:spPr>
          <a:xfrm>
            <a:off x="522924" y="1712119"/>
            <a:ext cx="3259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OBJETIVO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42CBEE-2D85-F251-E4C0-0476ABEA1956}"/>
              </a:ext>
            </a:extLst>
          </p:cNvPr>
          <p:cNvSpPr txBox="1"/>
          <p:nvPr/>
        </p:nvSpPr>
        <p:spPr>
          <a:xfrm>
            <a:off x="8451282" y="1798320"/>
            <a:ext cx="321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OBJETIVOS </a:t>
            </a:r>
            <a:r>
              <a:rPr lang="es-ES" sz="2400" dirty="0" err="1">
                <a:solidFill>
                  <a:schemeClr val="bg1"/>
                </a:solidFill>
              </a:rPr>
              <a:t>ESPECíFICOS</a:t>
            </a:r>
            <a:endParaRPr lang="es-ES" sz="2400" dirty="0">
              <a:solidFill>
                <a:schemeClr val="bg1"/>
              </a:solidFill>
            </a:endParaRPr>
          </a:p>
        </p:txBody>
      </p:sp>
      <p:pic>
        <p:nvPicPr>
          <p:cNvPr id="12" name="Marcador de posición de imagen 11" descr="Forma&#10;&#10;El contenido generado por IA puede ser incorrecto.">
            <a:extLst>
              <a:ext uri="{FF2B5EF4-FFF2-40B4-BE49-F238E27FC236}">
                <a16:creationId xmlns:a16="http://schemas.microsoft.com/office/drawing/2014/main" id="{099236A4-6182-093B-6BBD-B07E47B970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581" r="225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ESTADO DEL ARTE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4</a:t>
            </a:fld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01B6E4D-6942-45C5-99A9-6B769E8902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0550" y="3949700"/>
            <a:ext cx="2336800" cy="1397000"/>
          </a:xfrm>
        </p:spPr>
        <p:txBody>
          <a:bodyPr rtlCol="0"/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s-ES" sz="2400" dirty="0"/>
              <a:t>Gamificación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s-ES" sz="2400" dirty="0"/>
              <a:t>Pérdida de foco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D269992-EA9D-41F6-85C3-B789218471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4559" y="3900705"/>
            <a:ext cx="2337502" cy="1636496"/>
          </a:xfrm>
        </p:spPr>
        <p:txBody>
          <a:bodyPr rtlCol="0" anchor="b"/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s-ES" sz="2400" dirty="0"/>
              <a:t>Bienestar guiado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s-ES" sz="2400" dirty="0"/>
              <a:t>Poca flexibilidad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DFAA7E0-5467-48C2-A0A1-08FFCDD0AB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s-ES" sz="2400" dirty="0"/>
              <a:t>Estadísticas básicas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s-ES" sz="2400" dirty="0"/>
              <a:t>No soporta hábitos mensuales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6CD0F95-69FE-4CD4-B47D-11711D3942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36087" y="3900705"/>
            <a:ext cx="2336800" cy="1534895"/>
          </a:xfrm>
        </p:spPr>
        <p:txBody>
          <a:bodyPr rtlCol="0" anchor="b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2400" dirty="0"/>
              <a:t>Productividad y progreso real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2400" dirty="0"/>
              <a:t>Interfaz limpia, sin instalación</a:t>
            </a:r>
          </a:p>
        </p:txBody>
      </p:sp>
      <p:pic>
        <p:nvPicPr>
          <p:cNvPr id="10" name="Marcador de posición de imagen 9" descr="Icono&#10;&#10;El contenido generado por IA puede ser incorrecto.">
            <a:extLst>
              <a:ext uri="{FF2B5EF4-FFF2-40B4-BE49-F238E27FC236}">
                <a16:creationId xmlns:a16="http://schemas.microsoft.com/office/drawing/2014/main" id="{DF336960-C717-38D9-A747-64416BDCBAE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792" t="1" r="-790" b="1"/>
          <a:stretch>
            <a:fillRect/>
          </a:stretch>
        </p:blipFill>
        <p:spPr>
          <a:xfrm>
            <a:off x="457200" y="1890712"/>
            <a:ext cx="2611120" cy="758823"/>
          </a:xfrm>
        </p:spPr>
      </p:pic>
      <p:pic>
        <p:nvPicPr>
          <p:cNvPr id="19" name="Marcador de posición de imagen 18" descr="Icono&#10;&#10;El contenido generado por IA puede ser incorrecto.">
            <a:extLst>
              <a:ext uri="{FF2B5EF4-FFF2-40B4-BE49-F238E27FC236}">
                <a16:creationId xmlns:a16="http://schemas.microsoft.com/office/drawing/2014/main" id="{EC7F03E9-6EB3-6C4B-2361-56B6B79D7A5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t="8647" b="8647"/>
          <a:stretch>
            <a:fillRect/>
          </a:stretch>
        </p:blipFill>
        <p:spPr>
          <a:xfrm>
            <a:off x="3829050" y="1739900"/>
            <a:ext cx="1689100" cy="1397000"/>
          </a:xfr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8F99DA5F-C2CA-77CA-169C-383E43120CE9}"/>
              </a:ext>
            </a:extLst>
          </p:cNvPr>
          <p:cNvSpPr txBox="1"/>
          <p:nvPr/>
        </p:nvSpPr>
        <p:spPr>
          <a:xfrm>
            <a:off x="3890071" y="3102076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FABULOUS</a:t>
            </a:r>
          </a:p>
        </p:txBody>
      </p:sp>
      <p:pic>
        <p:nvPicPr>
          <p:cNvPr id="27" name="Marcador de posición de imagen 26" descr="Icono&#10;&#10;El contenido generado por IA puede ser incorrecto.">
            <a:extLst>
              <a:ext uri="{FF2B5EF4-FFF2-40B4-BE49-F238E27FC236}">
                <a16:creationId xmlns:a16="http://schemas.microsoft.com/office/drawing/2014/main" id="{44BAE8D5-311B-FCD5-A79E-C8CCF2F58D4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/>
          <a:srcRect t="8647" b="8647"/>
          <a:stretch>
            <a:fillRect/>
          </a:stretch>
        </p:blipFill>
        <p:spPr/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E9CD26E1-D8A6-30D7-79FD-1B70F32E8F52}"/>
              </a:ext>
            </a:extLst>
          </p:cNvPr>
          <p:cNvSpPr txBox="1"/>
          <p:nvPr/>
        </p:nvSpPr>
        <p:spPr>
          <a:xfrm>
            <a:off x="6744524" y="3194409"/>
            <a:ext cx="1769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HABITBULL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ECD8D7A-1645-FA1F-93BC-89FA497F94B9}"/>
              </a:ext>
            </a:extLst>
          </p:cNvPr>
          <p:cNvSpPr txBox="1"/>
          <p:nvPr/>
        </p:nvSpPr>
        <p:spPr>
          <a:xfrm>
            <a:off x="9658350" y="3194409"/>
            <a:ext cx="168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HABITIVITY</a:t>
            </a:r>
          </a:p>
        </p:txBody>
      </p:sp>
      <p:pic>
        <p:nvPicPr>
          <p:cNvPr id="49" name="Marcador de posición de imagen 48">
            <a:extLst>
              <a:ext uri="{FF2B5EF4-FFF2-40B4-BE49-F238E27FC236}">
                <a16:creationId xmlns:a16="http://schemas.microsoft.com/office/drawing/2014/main" id="{273F4E57-45E0-C242-2A9E-B3C393600F8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8"/>
          <a:srcRect l="2631" r="2631"/>
          <a:stretch/>
        </p:blipFill>
        <p:spPr>
          <a:xfrm>
            <a:off x="9598977" y="1739900"/>
            <a:ext cx="1689100" cy="1397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DISEÑO Y REQUISITOS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5</a:t>
            </a:fld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4241C871-580D-4A29-A334-0208A8E47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72246"/>
            <a:ext cx="5630165" cy="518457"/>
          </a:xfrm>
        </p:spPr>
        <p:txBody>
          <a:bodyPr rtlCol="0"/>
          <a:lstStyle/>
          <a:p>
            <a:pPr algn="ctr" rtl="0"/>
            <a:r>
              <a:rPr lang="es-ES" dirty="0"/>
              <a:t>REQUISITOS CLAVE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320386"/>
            <a:ext cx="5630165" cy="1953455"/>
          </a:xfrm>
        </p:spPr>
        <p:txBody>
          <a:bodyPr rtlCol="0">
            <a:normAutofit/>
          </a:bodyPr>
          <a:lstStyle/>
          <a:p>
            <a:pPr rtl="0"/>
            <a:r>
              <a:rPr lang="es-ES" sz="2400" dirty="0"/>
              <a:t>Registro, autenticación y roles</a:t>
            </a:r>
          </a:p>
          <a:p>
            <a:pPr rtl="0"/>
            <a:r>
              <a:rPr lang="es-ES" sz="2400" dirty="0"/>
              <a:t>Gestión de hábitos</a:t>
            </a:r>
          </a:p>
          <a:p>
            <a:pPr rtl="0"/>
            <a:r>
              <a:rPr lang="es-ES" sz="2400" dirty="0"/>
              <a:t>Visualización del progreso con gráficas</a:t>
            </a:r>
          </a:p>
          <a:p>
            <a:pPr rtl="0"/>
            <a:r>
              <a:rPr lang="es-ES" sz="2400" dirty="0"/>
              <a:t>Seguridad: Cifrado de contraseñas y JWT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95403"/>
            <a:ext cx="5582064" cy="518457"/>
          </a:xfrm>
        </p:spPr>
        <p:txBody>
          <a:bodyPr rtlCol="0"/>
          <a:lstStyle/>
          <a:p>
            <a:pPr algn="ctr" rtl="0"/>
            <a:r>
              <a:rPr lang="es-ES" dirty="0"/>
              <a:t>ARQUITECTURA CLIENTE-SERVIDOR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369240"/>
            <a:ext cx="5582064" cy="1953455"/>
          </a:xfrm>
        </p:spPr>
        <p:txBody>
          <a:bodyPr rtlCol="0">
            <a:normAutofit/>
          </a:bodyPr>
          <a:lstStyle/>
          <a:p>
            <a:pPr rtl="0"/>
            <a:r>
              <a:rPr lang="es-ES" sz="2400" dirty="0" err="1"/>
              <a:t>Frontend</a:t>
            </a:r>
            <a:r>
              <a:rPr lang="es-ES" sz="2400" dirty="0"/>
              <a:t>: Angular</a:t>
            </a:r>
          </a:p>
          <a:p>
            <a:pPr rtl="0"/>
            <a:r>
              <a:rPr lang="es-ES" sz="2400" dirty="0" err="1"/>
              <a:t>Backend</a:t>
            </a:r>
            <a:r>
              <a:rPr lang="es-ES" sz="2400" dirty="0"/>
              <a:t>: Node.js + Express</a:t>
            </a:r>
          </a:p>
          <a:p>
            <a:pPr rtl="0"/>
            <a:r>
              <a:rPr lang="es-ES" sz="2400" dirty="0"/>
              <a:t>Base de datos: PostgreSQL</a:t>
            </a:r>
          </a:p>
        </p:txBody>
      </p:sp>
      <p:pic>
        <p:nvPicPr>
          <p:cNvPr id="6" name="Marcador de posición de 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A7FC72E1-49A9-62AF-6CB4-18857624BB8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8159" b="18159"/>
          <a:stretch>
            <a:fillRect/>
          </a:stretch>
        </p:blipFill>
        <p:spPr>
          <a:xfrm>
            <a:off x="2184180" y="1290320"/>
            <a:ext cx="7538720" cy="2249703"/>
          </a:xfrm>
        </p:spPr>
      </p:pic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2F8E5BC1-257F-4CA0-A14D-8A76F619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TECNOLOGÍAS USADAS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E84475F-A218-40AD-91D5-2A420736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6</a:t>
            </a:fld>
            <a:endParaRPr lang="es-ES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32B0CB1D-E6FE-4346-B4DC-C1AC8F0F5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es-ES" dirty="0"/>
              <a:t>ANGULAR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EBA6953-980C-4C61-AFA3-018201F6E2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rtlCol="0"/>
          <a:lstStyle/>
          <a:p>
            <a:pPr rtl="0"/>
            <a:r>
              <a:rPr lang="es-ES" sz="2400" dirty="0"/>
              <a:t>Arquitectura modular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1EA45180-5246-464E-BDD0-2AB792997E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rtl="0"/>
            <a:r>
              <a:rPr lang="es-ES" dirty="0"/>
              <a:t>Node.js + Express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7E61202C-1274-459A-A89D-C23AE8A261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es-ES" sz="2400" dirty="0"/>
              <a:t>Creación de rutas y middleware 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7A4F278-30B9-44DC-81DE-0BB8DC7D9B4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pPr rtl="0"/>
            <a:r>
              <a:rPr lang="es-ES" dirty="0"/>
              <a:t>PostgreSQL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6E82B8CE-8692-4360-9A23-C2348C7B858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pPr rtl="0"/>
            <a:r>
              <a:rPr lang="es-ES" sz="2400" dirty="0"/>
              <a:t>Sistema relacional robusto y con soporte avanzado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7372C0BC-293C-400A-8073-0246B833FC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pPr rtl="0"/>
            <a:r>
              <a:rPr lang="es-ES" dirty="0"/>
              <a:t>JWT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A7CB8132-D875-4ED5-9967-5C58F21B10E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/>
          <a:p>
            <a:pPr rtl="0"/>
            <a:r>
              <a:rPr lang="es-ES" sz="2400" dirty="0"/>
              <a:t>Autenticar usuarios de forma ligera y segura</a:t>
            </a:r>
          </a:p>
        </p:txBody>
      </p:sp>
      <p:pic>
        <p:nvPicPr>
          <p:cNvPr id="13" name="Marcador de posición de imagen 12" descr="Un dibujo de una señal de alto&#10;&#10;El contenido generado por IA puede ser incorrecto.">
            <a:extLst>
              <a:ext uri="{FF2B5EF4-FFF2-40B4-BE49-F238E27FC236}">
                <a16:creationId xmlns:a16="http://schemas.microsoft.com/office/drawing/2014/main" id="{622F5978-6BF0-E41C-64B0-951E66471C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407" b="5407"/>
          <a:stretch>
            <a:fillRect/>
          </a:stretch>
        </p:blipFill>
        <p:spPr/>
      </p:pic>
      <p:pic>
        <p:nvPicPr>
          <p:cNvPr id="31" name="Marcador de posición de imagen 30" descr="Icono&#10;&#10;El contenido generado por IA puede ser incorrecto.">
            <a:extLst>
              <a:ext uri="{FF2B5EF4-FFF2-40B4-BE49-F238E27FC236}">
                <a16:creationId xmlns:a16="http://schemas.microsoft.com/office/drawing/2014/main" id="{A14D6128-BE6A-E993-1912-630C0BBFDEB5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-16214" r="-16214"/>
          <a:stretch>
            <a:fillRect/>
          </a:stretch>
        </p:blipFill>
        <p:spPr/>
      </p:pic>
      <p:pic>
        <p:nvPicPr>
          <p:cNvPr id="42" name="Marcador de posición de imagen 41">
            <a:extLst>
              <a:ext uri="{FF2B5EF4-FFF2-40B4-BE49-F238E27FC236}">
                <a16:creationId xmlns:a16="http://schemas.microsoft.com/office/drawing/2014/main" id="{9B78F55C-99B8-9E88-CCEE-1E330034A497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t="5407" b="5407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7" name="Marcador de posición de imagen 4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909D533-0961-7D0A-59E9-8ED7E91442E9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t="5407" b="5407"/>
          <a:stretch>
            <a:fillRect/>
          </a:stretch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104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FUNCIONALIDADES - USUARIO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7</a:t>
            </a:fld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127500" cy="4552950"/>
          </a:xfrm>
        </p:spPr>
        <p:txBody>
          <a:bodyPr rtlCol="0"/>
          <a:lstStyle/>
          <a:p>
            <a:pPr rtl="0"/>
            <a:r>
              <a:rPr lang="es-ES" sz="2800" dirty="0"/>
              <a:t>Gestión de hábitos </a:t>
            </a:r>
          </a:p>
          <a:p>
            <a:pPr lvl="1"/>
            <a:r>
              <a:rPr lang="es-ES" sz="2400" dirty="0"/>
              <a:t>Crear, editar y marcar como completado</a:t>
            </a:r>
          </a:p>
          <a:p>
            <a:r>
              <a:rPr lang="es-ES" sz="2800" dirty="0"/>
              <a:t>Tipos de hábitos</a:t>
            </a:r>
          </a:p>
          <a:p>
            <a:pPr lvl="1"/>
            <a:r>
              <a:rPr lang="es-ES" sz="2400" dirty="0"/>
              <a:t>Diarios, semanales y mensuales</a:t>
            </a:r>
          </a:p>
          <a:p>
            <a:r>
              <a:rPr lang="es-ES" sz="2800" dirty="0"/>
              <a:t>Visualización del progreso</a:t>
            </a:r>
          </a:p>
          <a:p>
            <a:pPr lvl="1"/>
            <a:r>
              <a:rPr lang="es-ES" sz="2400" dirty="0"/>
              <a:t>Gráficas interactivas</a:t>
            </a:r>
          </a:p>
          <a:p>
            <a:r>
              <a:rPr lang="es-ES" sz="2800" dirty="0"/>
              <a:t>Perfil de usuario</a:t>
            </a:r>
          </a:p>
          <a:p>
            <a:pPr lvl="1"/>
            <a:r>
              <a:rPr lang="es-ES" sz="2400" dirty="0"/>
              <a:t>Datos, logros y estadísticas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4D08889-04FA-F0A1-560D-90200CC44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558" y="3150938"/>
            <a:ext cx="4140650" cy="319906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A358307-1030-2E77-1811-E94524D99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166" y="4012922"/>
            <a:ext cx="2962688" cy="199100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7CBC400-0F8C-F24F-D10B-726D72EE1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55" y="508000"/>
            <a:ext cx="5246687" cy="251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BF07-9F85-07AA-7514-031722D0D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14BB1926-E5CB-EB50-61DF-0FF1A336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FUNCIONALIDADES - ADMINISTRADOR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E69CBB-DD5D-76B8-4028-9AABF729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smtClean="0"/>
              <a:t>8</a:t>
            </a:fld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A283DC67-EB6A-7419-07EC-B73FDB22F8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524101"/>
            <a:ext cx="4127500" cy="4552950"/>
          </a:xfrm>
        </p:spPr>
        <p:txBody>
          <a:bodyPr rtlCol="0">
            <a:normAutofit/>
          </a:bodyPr>
          <a:lstStyle/>
          <a:p>
            <a:pPr rtl="0"/>
            <a:r>
              <a:rPr lang="es-ES" sz="2800" dirty="0"/>
              <a:t>Estadísticas globales</a:t>
            </a:r>
          </a:p>
          <a:p>
            <a:pPr lvl="1"/>
            <a:r>
              <a:rPr lang="es-ES" sz="2400" dirty="0" err="1"/>
              <a:t>Nº</a:t>
            </a:r>
            <a:r>
              <a:rPr lang="es-ES" sz="2400" dirty="0"/>
              <a:t> de usuarios registrados</a:t>
            </a:r>
          </a:p>
          <a:p>
            <a:pPr lvl="1"/>
            <a:r>
              <a:rPr lang="es-ES" sz="2400" dirty="0"/>
              <a:t>Hábitos creados</a:t>
            </a:r>
          </a:p>
          <a:p>
            <a:pPr lvl="1"/>
            <a:r>
              <a:rPr lang="es-ES" sz="2400" dirty="0"/>
              <a:t>Promedio hábitos por usuario</a:t>
            </a:r>
          </a:p>
          <a:p>
            <a:r>
              <a:rPr lang="es-ES" sz="2800" dirty="0"/>
              <a:t>Gestión de usuarios</a:t>
            </a:r>
          </a:p>
          <a:p>
            <a:pPr lvl="1"/>
            <a:r>
              <a:rPr lang="es-ES" sz="2400" dirty="0"/>
              <a:t>Listado de usuarios</a:t>
            </a:r>
          </a:p>
          <a:p>
            <a:pPr lvl="1"/>
            <a:r>
              <a:rPr lang="es-ES" sz="2400" dirty="0"/>
              <a:t>Edición de usuarios</a:t>
            </a:r>
          </a:p>
          <a:p>
            <a:pPr lvl="1"/>
            <a:r>
              <a:rPr lang="es-ES" sz="2400" dirty="0"/>
              <a:t>Eliminación de usuarios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E431BA-1AA6-1761-5BCA-13B776609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827" y="1284516"/>
            <a:ext cx="4347865" cy="27617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B9CED0F-101F-4282-0B71-FD6EE23EA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599" y="4338458"/>
            <a:ext cx="7386320" cy="148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0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863C9-9BEC-B8BC-CC3E-257CF74D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PRUEBAS REALIZADAS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5E89D31-B7CC-42AB-4E4E-8F1CC03F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9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1563D3-DDF1-D167-130E-4EFDBAB77D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" dirty="0"/>
              <a:t>Pruebas Unitarias</a:t>
            </a:r>
          </a:p>
          <a:p>
            <a:pPr lvl="1"/>
            <a:r>
              <a:rPr lang="es-ES" dirty="0"/>
              <a:t>Componentes críticos (AuthService)</a:t>
            </a:r>
          </a:p>
          <a:p>
            <a:r>
              <a:rPr lang="es-ES" dirty="0"/>
              <a:t>Pruebas Funcionales</a:t>
            </a:r>
          </a:p>
          <a:p>
            <a:pPr lvl="1"/>
            <a:r>
              <a:rPr lang="es-ES" dirty="0"/>
              <a:t>Registro e inicio de sesión</a:t>
            </a:r>
          </a:p>
          <a:p>
            <a:pPr lvl="1"/>
            <a:r>
              <a:rPr lang="es-ES" dirty="0"/>
              <a:t>Creación, edición y eliminación de hábitos</a:t>
            </a:r>
          </a:p>
          <a:p>
            <a:pPr lvl="1"/>
            <a:r>
              <a:rPr lang="es-ES" dirty="0"/>
              <a:t>Visualización de gráficas y estadísticas</a:t>
            </a:r>
          </a:p>
          <a:p>
            <a:r>
              <a:rPr lang="es-ES" dirty="0"/>
              <a:t>Pruebas de API con Postman</a:t>
            </a:r>
          </a:p>
          <a:p>
            <a:pPr lvl="1"/>
            <a:r>
              <a:rPr lang="es-ES" dirty="0"/>
              <a:t>Endpoints de usuario, hábitos y estadísticas</a:t>
            </a:r>
          </a:p>
          <a:p>
            <a:pPr lvl="1"/>
            <a:r>
              <a:rPr lang="es-ES" dirty="0"/>
              <a:t>Verificación de respuestas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DFFEE94-E924-EC6E-86A4-9F40A027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170" y="1450975"/>
            <a:ext cx="2543530" cy="20195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5337B7-5923-FE44-8B35-4D9B1FCCA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423" y="1450975"/>
            <a:ext cx="3320283" cy="436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38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CC2BA-D41D-82D5-CA33-E028352A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IMPACTO SOCIAL Y MEDIOAMBIENTAL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9C1CFE-ECEC-0354-6803-DB11F2B4AD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sz="2800" dirty="0"/>
              <a:t>Impacto social 👥</a:t>
            </a:r>
          </a:p>
          <a:p>
            <a:pPr lvl="1"/>
            <a:r>
              <a:rPr lang="es-ES" sz="2400" dirty="0"/>
              <a:t> Fomento rutinas saludables y disciplina personal</a:t>
            </a:r>
          </a:p>
          <a:p>
            <a:pPr lvl="1"/>
            <a:r>
              <a:rPr lang="es-ES" sz="2400" dirty="0"/>
              <a:t>Reduce estrés y mejora productividad</a:t>
            </a:r>
          </a:p>
          <a:p>
            <a:pPr lvl="1"/>
            <a:r>
              <a:rPr lang="es-ES" sz="2400" dirty="0"/>
              <a:t>Puede aplicarse en ámbitos educativos o terapéuticos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FABC86-89E1-3A74-BD88-5BB05902E2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sz="2400" dirty="0"/>
              <a:t>Impacto medioambiental 🌍</a:t>
            </a:r>
          </a:p>
          <a:p>
            <a:pPr marL="0" indent="0">
              <a:buNone/>
            </a:pPr>
            <a:endParaRPr lang="es-ES" dirty="0"/>
          </a:p>
          <a:p>
            <a:pPr lvl="1"/>
            <a:r>
              <a:rPr lang="es-ES" sz="2400" dirty="0"/>
              <a:t>Aplicación 100% digital</a:t>
            </a:r>
          </a:p>
          <a:p>
            <a:pPr lvl="1"/>
            <a:r>
              <a:rPr lang="es-ES" sz="2400" dirty="0"/>
              <a:t>Accesible desde cualquier navegador</a:t>
            </a:r>
          </a:p>
          <a:p>
            <a:pPr lvl="1"/>
            <a:r>
              <a:rPr lang="es-ES" sz="2400" dirty="0"/>
              <a:t>Uso tecnologías ligeras (Angular, Node.js)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86850A3-5D8E-8BD5-92BC-8B536C2C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10</a:t>
            </a:fld>
            <a:endParaRPr lang="es-ES" noProof="0"/>
          </a:p>
        </p:txBody>
      </p:sp>
      <p:pic>
        <p:nvPicPr>
          <p:cNvPr id="15" name="Marcador de posición de imagen 14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9CFBD430-AC39-A9E6-6541-0540F17A64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231" t="-317" r="32960" b="-422"/>
          <a:stretch>
            <a:fillRect/>
          </a:stretch>
        </p:blipFill>
        <p:spPr>
          <a:xfrm>
            <a:off x="3967163" y="1233488"/>
            <a:ext cx="4257675" cy="5148262"/>
          </a:xfrm>
        </p:spPr>
      </p:pic>
    </p:spTree>
    <p:extLst>
      <p:ext uri="{BB962C8B-B14F-4D97-AF65-F5344CB8AC3E}">
        <p14:creationId xmlns:p14="http://schemas.microsoft.com/office/powerpoint/2010/main" val="3043650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50F273D-AF53-E638-4391-70FBCBC9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176" y="386080"/>
            <a:ext cx="4645024" cy="843280"/>
          </a:xfrm>
        </p:spPr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B388ED6-6840-759F-F21A-D51F5DCB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1869440"/>
            <a:ext cx="4416424" cy="451627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600" dirty="0"/>
              <a:t>Se alcanzaron objetivos generales: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</a:rPr>
              <a:t>Gestión de hábitos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</a:rPr>
              <a:t>Interfaz intuitiva y visual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</a:rPr>
              <a:t>Seguridad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600" dirty="0"/>
              <a:t>Arquitectura robusta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bg1"/>
                </a:solidFill>
              </a:rPr>
              <a:t>Angular, Node.js y PostgreSQL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600" dirty="0">
                <a:solidFill>
                  <a:schemeClr val="bg1"/>
                </a:solidFill>
              </a:rPr>
              <a:t>Adqui</a:t>
            </a:r>
            <a:r>
              <a:rPr lang="es-ES" sz="2600" dirty="0"/>
              <a:t>rí experiencia full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600" dirty="0">
                <a:solidFill>
                  <a:schemeClr val="bg1"/>
                </a:solidFill>
              </a:rPr>
              <a:t>Base sólida para futuras mejoras y expansión</a:t>
            </a:r>
          </a:p>
          <a:p>
            <a:pPr lvl="1"/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10" name="Marcador de posición de imagen 9" descr="Icono&#10;&#10;El contenido generado por IA puede ser incorrecto.">
            <a:extLst>
              <a:ext uri="{FF2B5EF4-FFF2-40B4-BE49-F238E27FC236}">
                <a16:creationId xmlns:a16="http://schemas.microsoft.com/office/drawing/2014/main" id="{F1004A9C-9531-5212-4A0F-69C62027E46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8783" b="8783"/>
          <a:stretch>
            <a:fillRect/>
          </a:stretch>
        </p:blipFill>
        <p:spPr>
          <a:xfrm>
            <a:off x="5777020" y="1229360"/>
            <a:ext cx="5954604" cy="4907280"/>
          </a:xfrm>
        </p:spPr>
      </p:pic>
    </p:spTree>
    <p:extLst>
      <p:ext uri="{BB962C8B-B14F-4D97-AF65-F5344CB8AC3E}">
        <p14:creationId xmlns:p14="http://schemas.microsoft.com/office/powerpoint/2010/main" val="262943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C6375-90CE-E280-CE6C-A919A489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LINEAS FUTURAS DE MEJORA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64942-321F-A84D-E15A-D4FC7AA77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Desarrollo de app móvil (Android/iOS)</a:t>
            </a:r>
          </a:p>
          <a:p>
            <a:r>
              <a:rPr lang="es-ES" dirty="0"/>
              <a:t>Sistema de recordatorios y notificaciones</a:t>
            </a:r>
          </a:p>
          <a:p>
            <a:r>
              <a:rPr lang="es-ES" dirty="0"/>
              <a:t>Recompensas y logros para motivación</a:t>
            </a:r>
          </a:p>
          <a:p>
            <a:r>
              <a:rPr lang="es-ES" dirty="0"/>
              <a:t>Nuevos tipos de visualización(</a:t>
            </a:r>
            <a:r>
              <a:rPr lang="es-ES" dirty="0" err="1"/>
              <a:t>Ej</a:t>
            </a:r>
            <a:r>
              <a:rPr lang="es-ES" dirty="0"/>
              <a:t>: mapas de calor)</a:t>
            </a:r>
          </a:p>
          <a:p>
            <a:r>
              <a:rPr lang="es-ES" dirty="0"/>
              <a:t>Interacción social: compartir logros o ver progreso amigos</a:t>
            </a:r>
          </a:p>
          <a:p>
            <a:r>
              <a:rPr lang="es-ES" dirty="0"/>
              <a:t>Internalización y traducción a otros idiomas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34FFAF-674A-19E6-4182-9A4C6785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12</a:t>
            </a:fld>
            <a:endParaRPr lang="es-ES" noProof="0"/>
          </a:p>
        </p:txBody>
      </p:sp>
      <p:pic>
        <p:nvPicPr>
          <p:cNvPr id="7" name="Marcador de posición de imagen 6" descr="Icono&#10;&#10;El contenido generado por IA puede ser incorrecto.">
            <a:extLst>
              <a:ext uri="{FF2B5EF4-FFF2-40B4-BE49-F238E27FC236}">
                <a16:creationId xmlns:a16="http://schemas.microsoft.com/office/drawing/2014/main" id="{5A5A22BE-006D-1EBC-77E9-FB02479290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9107" b="9107"/>
          <a:stretch>
            <a:fillRect/>
          </a:stretch>
        </p:blipFill>
        <p:spPr>
          <a:xfrm>
            <a:off x="7040558" y="1920240"/>
            <a:ext cx="4231645" cy="3460884"/>
          </a:xfrm>
        </p:spPr>
      </p:pic>
    </p:spTree>
    <p:extLst>
      <p:ext uri="{BB962C8B-B14F-4D97-AF65-F5344CB8AC3E}">
        <p14:creationId xmlns:p14="http://schemas.microsoft.com/office/powerpoint/2010/main" val="2441671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4E80F3-515F-EDD6-5300-96C2376C3237}"/>
              </a:ext>
            </a:extLst>
          </p:cNvPr>
          <p:cNvSpPr txBox="1"/>
          <p:nvPr/>
        </p:nvSpPr>
        <p:spPr>
          <a:xfrm>
            <a:off x="3373120" y="2644170"/>
            <a:ext cx="5445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600" dirty="0"/>
              <a:t>¡GRACIAS!</a:t>
            </a:r>
          </a:p>
        </p:txBody>
      </p:sp>
      <p:pic>
        <p:nvPicPr>
          <p:cNvPr id="5" name="Imagen 4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0F580888-C741-737C-D08A-3A162811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46" y="266670"/>
            <a:ext cx="1655028" cy="13008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Imagen 6" descr="Logotipo&#10;&#10;El contenido generado por IA puede ser incorrecto.">
            <a:extLst>
              <a:ext uri="{FF2B5EF4-FFF2-40B4-BE49-F238E27FC236}">
                <a16:creationId xmlns:a16="http://schemas.microsoft.com/office/drawing/2014/main" id="{49CA0417-C199-EDDB-2D84-EA641A862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120" y="0"/>
            <a:ext cx="2722880" cy="2900377"/>
          </a:xfrm>
          <a:prstGeom prst="rect">
            <a:avLst/>
          </a:prstGeom>
        </p:spPr>
      </p:pic>
      <p:pic>
        <p:nvPicPr>
          <p:cNvPr id="9" name="Imagen 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C9E957C-FDF4-ABE3-A46E-AE1754907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59" y="4517863"/>
            <a:ext cx="2948841" cy="207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648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8973.tgt.Office_50304712_TF34126823_Win32_OJ112181013" id="{0FF25D6E-8F37-4983-A1B8-821332E0C5CC}" vid="{C69999EA-4DFF-4878-BAEC-9FBD108C09D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</TotalTime>
  <Words>455</Words>
  <Application>Microsoft Office PowerPoint</Application>
  <PresentationFormat>Panorámica</PresentationFormat>
  <Paragraphs>122</Paragraphs>
  <Slides>13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Aplicación web para la gestión de hábitos diarios</vt:lpstr>
      <vt:lpstr>MOTIVACIÓN</vt:lpstr>
      <vt:lpstr>OBJETIVOS 🎯</vt:lpstr>
      <vt:lpstr>ESTADO DEL ARTE</vt:lpstr>
      <vt:lpstr>DISEÑO Y REQUISITOS</vt:lpstr>
      <vt:lpstr>TECNOLOGÍAS USADAS</vt:lpstr>
      <vt:lpstr>FUNCIONALIDADES - USUARIO</vt:lpstr>
      <vt:lpstr>FUNCIONALIDADES - ADMINISTRADOR</vt:lpstr>
      <vt:lpstr>PRUEBAS REALIZADAS</vt:lpstr>
      <vt:lpstr>IMPACTO SOCIAL Y MEDIOAMBIENTAL</vt:lpstr>
      <vt:lpstr>CONCLUSIONES</vt:lpstr>
      <vt:lpstr>LINEAS FUTURAS DE MEJORA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MYKHAYLO STANISLAY KULYS KHUDZEY</dc:creator>
  <cp:lastModifiedBy>MYKHAYLO STANISLAY KULYS KHUDZEY</cp:lastModifiedBy>
  <cp:revision>5</cp:revision>
  <dcterms:created xsi:type="dcterms:W3CDTF">2025-09-29T14:51:20Z</dcterms:created>
  <dcterms:modified xsi:type="dcterms:W3CDTF">2025-09-29T23:00:11Z</dcterms:modified>
</cp:coreProperties>
</file>